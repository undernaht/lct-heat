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262" r:id="rId21"/>
    <p:sldId id="268" r:id="rId25"/>
    <p:sldId id="269" r:id="rId27"/>
    <p:sldId id="261" r:id="rId20"/>
    <p:sldId id="374" r:id="rId18"/>
    <p:sldId id="371" r:id="rId17"/>
    <p:sldId id="267" r:id="rId26"/>
    <p:sldId id="376" r:id="rId45"/>
    <p:sldId id="370" r:id="rId16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6" Type="http://schemas.openxmlformats.org/officeDocument/2006/relationships/slide" Target="slides/slide14.xml"/><Relationship Id="rId17" Type="http://schemas.openxmlformats.org/officeDocument/2006/relationships/slide" Target="slides/slide11.xml"/><Relationship Id="rId18" Type="http://schemas.openxmlformats.org/officeDocument/2006/relationships/slide" Target="slides/slide10.xml"/><Relationship Id="rId20" Type="http://schemas.openxmlformats.org/officeDocument/2006/relationships/slide" Target="slides/slide9.xml"/><Relationship Id="rId21" Type="http://schemas.openxmlformats.org/officeDocument/2006/relationships/slide" Target="slides/slide6.xml"/><Relationship Id="rId25" Type="http://schemas.openxmlformats.org/officeDocument/2006/relationships/slide" Target="slides/slide7.xml"/><Relationship Id="rId26" Type="http://schemas.openxmlformats.org/officeDocument/2006/relationships/slide" Target="slides/slide12.xml"/><Relationship Id="rId27" Type="http://schemas.openxmlformats.org/officeDocument/2006/relationships/slide" Target="slides/slide8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openxmlformats.org/officeDocument/2006/relationships/slide" Target="slides/slide13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4.png"/><Relationship Id="rId3" Type="http://schemas.openxmlformats.org/officeDocument/2006/relationships/image" Target="../media/image32.png"/><Relationship Id="rId4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30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 wrap="square"/>
          <a:lstStyle/>
          <a:p>
            <a:pPr marL="268288" indent="0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Montserrat"/>
              </a:rPr>
              <a:t>Сервис моделирования трасс подключения к тепловым сетям</a:t>
            </a:r>
            <a:endParaRPr lang="ru-RU" sz="4800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 wrap="square"/>
          <a:lstStyle/>
          <a:p>
            <a:pPr indent="268288"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Montserrat"/>
              </a:rPr>
              <a:t>Команда «НАЗВАНИЕ» · кейс Департамента информационных технологий города Москвы</a:t>
            </a:r>
            <a:endParaRPr lang="ru-RU" dirty="0"/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6" name="Picture 5" descr="di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6494" y="329801"/>
            <a:ext cx="3510681" cy="1082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35267"/>
            <a:ext cx="6456363" cy="2971784"/>
          </a:xfrm>
        </p:spPr>
        <p:txBody>
          <a:bodyPr/>
          <a:p/>
        </p:txBody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Font typeface="Wingdings" pitchFamily="2" charset="2"/>
              <a:buNone/>
            </a:pPr>
            <a:r>
              <a:rPr sz="1150" b="0">
                <a:solidFill>
                  <a:srgbClr val="1C1D22"/>
                </a:solidFill>
                <a:latin typeface="Montserrat"/>
              </a:rPr>
              <a:t>Трасса ищется не по расстоянию, а прямо по целевому показателю S. Общие участки для соседних ОКС возникают сами. Результат пересчитывает независимый валидатор, написанный отдельно по тексту приложения.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Капитан: </a:t>
            </a:r>
            <a:r>
              <a:rPr lang="ru-RU" dirty="0">
                <a:solidFill>
                  <a:schemeClr val="tx1"/>
                </a:solidFill>
              </a:rPr>
              <a:t>ФИО, специальность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Кол-во участников: </a:t>
            </a:r>
            <a:r>
              <a:rPr lang="ru-RU" dirty="0">
                <a:solidFill>
                  <a:schemeClr val="tx1"/>
                </a:solidFill>
              </a:rPr>
              <a:t>__ человек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Краткое описание: 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как образовалась команда? 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место работы/учебы участников?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Город и регион: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endParaRPr lang="ru-RU" sz="2400" dirty="0">
              <a:solidFill>
                <a:schemeClr val="accent5"/>
              </a:solidFill>
              <a:latin typeface="+mn-lt"/>
            </a:endParaRP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Font typeface="Wingdings" pitchFamily="2" charset="2"/>
              <a:buNone/>
            </a:pPr>
            <a:r>
              <a:rPr sz="1150" b="0">
                <a:solidFill>
                  <a:srgbClr val="1C1D22"/>
                </a:solidFill>
                <a:latin typeface="Montserrat"/>
              </a:rPr>
              <a:t>За один запуск сервис строит варианты подключения всех перспективных ОКС к тепловым сетям: выбирает точки врезки, прокладывает трассы в обход ограничений, считает расходы, подбирает условные диаметры и стоимость — по расчётной модели технического приложения. Ручная правка геометрии не требуется.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265139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Имя Фамилия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4956712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Имя Фамилия</a:t>
            </a: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726203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 txBox="1">
            <a:spLocks/>
          </p:cNvSpPr>
          <p:nvPr/>
        </p:nvSpPr>
        <p:spPr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64" name="Текст 8">
            <a:extLst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 txBox="1">
            <a:spLocks/>
          </p:cNvSpPr>
          <p:nvPr/>
        </p:nvSpPr>
        <p:spPr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Имя Фамилия</a:t>
            </a:r>
          </a:p>
        </p:txBody>
      </p:sp>
      <p:sp>
        <p:nvSpPr>
          <p:cNvPr id="65" name="Скругленный прямоугольник 64">
            <a:extLst>
              <a:ext uri="{FF2B5EF4-FFF2-40B4-BE49-F238E27FC236}">
                <a16:creationId xmlns:a16="http://schemas.microsoft.com/office/drawing/2014/main" id="{603D078F-23CD-0C3A-EF6E-9FA3818E22BC}"/>
              </a:ext>
            </a:extLst>
          </p:cNvPr>
          <p:cNvSpPr/>
          <p:nvPr/>
        </p:nvSpPr>
        <p:spPr>
          <a:xfrm>
            <a:off x="9567349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6" name="Текст 8">
            <a:extLst>
              <a:ext uri="{FF2B5EF4-FFF2-40B4-BE49-F238E27FC236}">
                <a16:creationId xmlns:a16="http://schemas.microsoft.com/office/drawing/2014/main" id="{575DCA32-E606-5EE7-1034-420DB36234D1}"/>
              </a:ext>
            </a:extLst>
          </p:cNvPr>
          <p:cNvSpPr txBox="1">
            <a:spLocks/>
          </p:cNvSpPr>
          <p:nvPr/>
        </p:nvSpPr>
        <p:spPr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67" name="Текст 8">
            <a:extLst>
              <a:ext uri="{FF2B5EF4-FFF2-40B4-BE49-F238E27FC236}">
                <a16:creationId xmlns:a16="http://schemas.microsoft.com/office/drawing/2014/main" id="{9E3872F7-FC5C-5043-A741-AF2746714BA2}"/>
              </a:ext>
            </a:extLst>
          </p:cNvPr>
          <p:cNvSpPr txBox="1">
            <a:spLocks/>
          </p:cNvSpPr>
          <p:nvPr/>
        </p:nvSpPr>
        <p:spPr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Имя Фамилия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4607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4C94D4FF-301C-477D-8018-73C5CC99D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81397" y="1816054"/>
            <a:ext cx="1722566" cy="1552901"/>
          </a:xfrm>
        </p:spPr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2886467" y="1826554"/>
            <a:ext cx="1722566" cy="1542401"/>
          </a:xfrm>
        </p:spPr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767E99FD-70C0-A2B6-EA8E-C07EBA0B37E0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191784" y="1809238"/>
            <a:ext cx="1722567" cy="1559717"/>
          </a:xfrm>
        </p:spPr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D6C4749F-7C67-9CD8-7C7C-023BB23DC622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7520208" y="1809238"/>
            <a:ext cx="1722567" cy="1559717"/>
          </a:xfrm>
        </p:spPr>
      </p:sp>
      <p:sp>
        <p:nvSpPr>
          <p:cNvPr id="6" name="Рисунок 5">
            <a:extLst>
              <a:ext uri="{FF2B5EF4-FFF2-40B4-BE49-F238E27FC236}">
                <a16:creationId xmlns:a16="http://schemas.microsoft.com/office/drawing/2014/main" id="{B1F74E3B-D178-4815-DD0C-A02592AA14E6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9802422" y="1809238"/>
            <a:ext cx="1722566" cy="1559717"/>
          </a:xfrm>
        </p:spPr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endParaRPr lang="ru-RU" dirty="0">
              <a:latin typeface="+mn-lt"/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Роль в команде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Ник в мессенджере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Номер телефона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Место работы/учебы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Имя Фамилия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endParaRPr lang="ru-RU" dirty="0">
              <a:latin typeface="+mn-lt"/>
            </a:endParaRP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Расскажите, как вы собрались, участвовали ли вместе в прошлых хакатонах или проектах, интересные факты о команде.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Расскажите о самых интересных или сложных моментах в процессе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ru-RU" dirty="0">
                <a:solidFill>
                  <a:schemeClr val="tx1"/>
                </a:solidFill>
              </a:rPr>
              <a:t>разработки и как команда с ними справилась.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Здесь можете поделиться, в том числе, и личными историями,</a:t>
            </a:r>
            <a:r>
              <a:rPr lang="en-US" dirty="0">
                <a:solidFill>
                  <a:schemeClr val="tx1"/>
                </a:solidFill>
              </a:rPr>
              <a:t>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которые повлияли на ход вашего участия в хакатоне.</a:t>
            </a: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Что вас вдохновило или заинтересовало в этой проблеме?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Поле стоимости в единицах S (растр 1 м) → волна Дейкстры от каждой точки → жадное дерево с локальным поиском → расходы и Ду по таблице 1 → ограничения таблицы 2 → выгрузка GeoJSON по §7 приложения.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Ядро — Python (Shapely, rasterio, scikit-image). Приложение по ТЗ §3.2 — Java 11 и Spring Boot 2.6.3 с PostgreSQL и Swagger; стенд поднимается docker-compose.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br>
              <a:rPr lang="ru-RU" sz="1400" dirty="0">
                <a:solidFill>
                  <a:schemeClr val="tx1"/>
                </a:solidFill>
              </a:rPr>
            </a:br>
            <a:r>
              <a:rPr sz="1200" b="0">
                <a:solidFill>
                  <a:srgbClr val="1C1D22"/>
                </a:solidFill>
                <a:latin typeface="Montserrat"/>
              </a:rPr>
              <a:t>Инженер получает за полминуты то, на что уходит рабочий день: три сопоставимых варианта, где каждая цифра прослеживается до правила приложения.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Расчётная модель вынесена в конфигурацию: меняются нормативы — правится YAML, а не код.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Дальше — реконструкция существующей сети, учёт рельефа и интеграция с городскими системами.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3887" y="1732103"/>
            <a:ext cx="4734175" cy="4139307"/>
          </a:xfrm>
          <a:noFill/>
          <a:ln>
            <a:noFill/>
          </a:ln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1C1D22"/>
                </a:solidFill>
                <a:latin typeface="Montserrat"/>
              </a:rPr>
              <a:t>Подключение нового объекта к теплосети — это выбор точки врезки и маршрута в плотной городской застройке.</a:t>
            </a:r>
            <a:endParaRPr lang="ru-RU" sz="3600" b="1">
              <a:solidFill>
                <a:schemeClr val="tx1"/>
              </a:solidFill>
            </a:endParaRP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1C1D22"/>
                </a:solidFill>
                <a:latin typeface="Montserrat"/>
              </a:rPr>
              <a:t>Инженер учитывает здания, дороги, водные объекты, железную дорогу и чужие коммуникации: одно приходится обходить, другое можно пересечь по правилам, третье требует специального прохода.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1C1D22"/>
                </a:solidFill>
                <a:latin typeface="Montserrat"/>
              </a:rPr>
              <a:t>Затем на каждом участке считается расход, подбирается условный диаметр и стоимость.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1C1D22"/>
                </a:solidFill>
                <a:latin typeface="Montserrat"/>
              </a:rPr>
              <a:t>Объектов в наборе 17, и подключать их выгоднее совместно: общий участок оплачивается один раз.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310F53"/>
                </a:solidFill>
                <a:latin typeface="Montserrat"/>
              </a:rPr>
              <a:t>Вход — один GeoJSON: сеть, камеры, источник, точки ОКС, ограничения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310F53"/>
                </a:solidFill>
                <a:latin typeface="Montserrat"/>
              </a:rPr>
              <a:t>17 точек подключения, суммарный расход 488,72 т/ч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310F53"/>
                </a:solidFill>
                <a:latin typeface="Montserrat"/>
              </a:rPr>
              <a:t>29 участков сети (1,46 км), 9 камер, 88 ограничений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310F53"/>
                </a:solidFill>
                <a:latin typeface="Montserrat"/>
              </a:rPr>
              <a:t>Выход — GeoJSON по §7: участки, камеры, техузлы, сводка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310F53"/>
                </a:solidFill>
                <a:latin typeface="Montserrat"/>
              </a:rPr>
              <a:t>Показатель S = 0,7 · C / 25 млн ₽ + 0,3 · L / 100 м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Montserrat"/>
              </a:rPr>
              <a:t>ЗАДАЧА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310F53"/>
                </a:solidFill>
                <a:latin typeface="Montserrat"/>
              </a:rPr>
              <a:t>Поле стоимости</a:t>
            </a:r>
            <a:endParaRPr lang="ru-RU" dirty="0">
              <a:solidFill>
                <a:schemeClr val="tx1"/>
              </a:solidFill>
            </a:endParaRP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Район режется на растр с шагом 1 м. Вес ячейки — вклад метра трубы в показатель S: цена прокладки, коэффициент спецпрохода, запрет — бесконечность. Задача становится поиском самого дешёвого пути, а не короткого.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310F53"/>
                </a:solidFill>
                <a:latin typeface="Montserrat"/>
              </a:rPr>
              <a:t>Дерево подключения</a:t>
            </a:r>
            <a:endParaRPr lang="ru-RU" dirty="0">
              <a:solidFill>
                <a:schemeClr val="tx1"/>
              </a:solidFill>
            </a:endParaRP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От каждой точки идёт волна Дейкстры и выбирает самое дешёвое присоединение: существующий участок, камера в радиусе 10 м или уже построенная ветка. Общие участки возникают сами.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310F53"/>
                </a:solidFill>
                <a:latin typeface="Montserrat"/>
              </a:rPr>
              <a:t>Правила приложения</a:t>
            </a:r>
            <a:endParaRPr lang="ru-RU">
              <a:solidFill>
                <a:schemeClr val="tx1"/>
              </a:solidFill>
            </a:endParaRP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Расходы суммируются вверх по дереву, Ду — по таблице 1 с предельной длиной, отступы и спецпроходы — по таблице 2, повороты ≤ 90°, пересечения ≥ 45°. Нарушения ищутся по вектору и чинятся точечным запретом.</a:t>
            </a: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Montserrat"/>
              </a:rPr>
              <a:t>КАК СЧИТАЕМ</a:t>
            </a:r>
            <a:endParaRPr lang="ru-RU" dirty="0"/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64C56CA4-DEF9-5625-89CB-6C07486C2532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D2A0318-C089-B05C-98D0-C8E15942D3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8252" y="904538"/>
            <a:ext cx="4551334" cy="3557364"/>
          </a:xfrm>
          <a:prstGeom prst="rect">
            <a:avLst/>
          </a:prstGeom>
        </p:spPr>
      </p:pic>
      <p:pic>
        <p:nvPicPr>
          <p:cNvPr id="2" name="Рисунок 1" descr="ui-full.png"/>
          <p:cNvPicPr>
            <a:picLocks noGrp="1" noChangeAspect="1"/>
          </p:cNvPicPr>
          <p:nvPr>
            <p:ph type="pic" sz="quarter" idx="14"/>
          </p:nvPr>
        </p:nvPicPr>
        <p:blipFill>
          <a:blip r:embed="rId4"/>
          <a:srcRect/>
          <a:stretch>
            <a:fillRect/>
          </a:stretch>
        </p:blipFill>
        <p:spPr/>
      </p:pic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52D5942-B353-44B0-BA5B-56640646D1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26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C247253-002A-413B-B1BF-2661F6820C7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  <a:latin typeface="Montserrat"/>
              </a:rPr>
              <a:t>Карта: исходные данные и построенная сеть с расходами и Ду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E1719752-EED6-4EE5-BE5A-FB401278B98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  <a:latin typeface="Montserrat"/>
              </a:rPr>
              <a:t>Панели: участки, камеры, предельная длина, спецпроходы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616E677-DB7C-4B76-AAC0-44E0CBDD2CA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  <a:latin typeface="Montserrat"/>
              </a:rPr>
              <a:t>Выгрузка GeoJSON и протокол независимого валидатора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F4D2037-46B3-D253-D9E2-75E4F6E77A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Montserrat"/>
              </a:rPr>
              <a:t>ИНТЕРФЕЙС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999894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FF9BE287-CC84-BD90-E298-4EEA93BE9A7E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2EAAB83-DF67-4A10-A863-77C2941176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19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849BF57-EB33-4692-98F6-8A1B9293CD1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prstGeom prst="roundRect">
            <a:avLst>
              <a:gd name="adj" fmla="val 10128"/>
            </a:avLst>
          </a:prstGeom>
          <a:solidFill>
            <a:schemeClr val="bg1"/>
          </a:solidFill>
          <a:ln>
            <a:solidFill>
              <a:schemeClr val="accent5"/>
            </a:solidFill>
          </a:ln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250" b="0">
                <a:solidFill>
                  <a:srgbClr val="1C1D22"/>
                </a:solidFill>
                <a:latin typeface="Montserrat"/>
              </a:rPr>
              <a:t>Конкурсный набор «ЗИЛ»: 17 из 17 точек подключены за один запуск, три варианта — около 30 секунд на одном ядре.</a:t>
            </a:r>
            <a:endParaRPr lang="ru-RU" dirty="0">
              <a:solidFill>
                <a:schemeClr val="tx1"/>
              </a:solidFill>
            </a:endParaRP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1C1D22"/>
                </a:solidFill>
                <a:latin typeface="Montserrat"/>
              </a:rPr>
              <a:t>Лучший вариант: S = 12,8605 — 263,65 млн ₽, 1,83 км новой сети, 14 камер, 3 точки врезки. Нарушений правил приложения нет ни в одном варианте.</a:t>
            </a:r>
          </a:p>
        </p:txBody>
      </p:sp>
      <p:sp>
        <p:nvSpPr>
          <p:cNvPr id="10" name="Заголовок 13">
            <a:extLst>
              <a:ext uri="{FF2B5EF4-FFF2-40B4-BE49-F238E27FC236}">
                <a16:creationId xmlns:a16="http://schemas.microsoft.com/office/drawing/2014/main" id="{641DFED5-BDC7-0680-A1A0-F6CEB622B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2775523" cy="376138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Montserrat"/>
              </a:rPr>
              <a:t>РЕЗУЛЬТАТ</a:t>
            </a:r>
            <a:endParaRPr lang="ru-RU" dirty="0"/>
          </a:p>
        </p:txBody>
      </p:sp>
      <p:pic>
        <p:nvPicPr>
          <p:cNvPr id="11" name="Picture 10" descr="resu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7448" y="3223948"/>
            <a:ext cx="4163394" cy="2976827"/>
          </a:xfrm>
          <a:prstGeom prst="rect">
            <a:avLst/>
          </a:prstGeom>
        </p:spPr>
      </p:pic>
      <p:pic>
        <p:nvPicPr>
          <p:cNvPr id="12" name="Picture 11" descr="panel-ke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9745" y="1016001"/>
            <a:ext cx="3726579" cy="3078479"/>
          </a:xfrm>
          <a:prstGeom prst="rect">
            <a:avLst/>
          </a:prstGeom>
        </p:spPr>
      </p:pic>
      <p:pic>
        <p:nvPicPr>
          <p:cNvPr id="13" name="Picture 12" descr="panel-validat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25428" y="4389108"/>
            <a:ext cx="2035215" cy="18116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42681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80565" y="2493074"/>
            <a:ext cx="2965634" cy="423628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310F53"/>
                </a:solidFill>
                <a:latin typeface="Montserrat"/>
              </a:rPr>
              <a:t>S = 12,8605</a:t>
            </a:r>
            <a:endParaRPr lang="ru-RU" sz="1800" dirty="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80565" y="3128740"/>
            <a:ext cx="2965633" cy="2797928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263,65 млн ₽ · 1,83 км · 14 камер · 3 врезки.</a:t>
            </a:r>
            <a:endParaRPr lang="ru-RU" dirty="0">
              <a:solidFill>
                <a:schemeClr val="tx1"/>
              </a:solidFill>
            </a:endParaRP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Порядок обработки «ближние к сети первыми».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623178" y="2493074"/>
            <a:ext cx="3034896" cy="403756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310F53"/>
                </a:solidFill>
                <a:latin typeface="Montserrat"/>
              </a:rPr>
              <a:t>S = 12,8963</a:t>
            </a:r>
            <a:endParaRPr lang="ru-RU" sz="1800" dirty="0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4623178" y="3128740"/>
            <a:ext cx="3034896" cy="2797928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265,15 млн ₽ · 1,82 км · 14 камер · 3 врезки.</a:t>
            </a:r>
            <a:endParaRPr lang="ru-RU">
              <a:solidFill>
                <a:schemeClr val="tx1"/>
              </a:solidFill>
            </a:endParaRP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Порядок «наибольший расход первым» — другой состав общих участков.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547959" y="2493074"/>
            <a:ext cx="2945464" cy="403913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310F53"/>
                </a:solidFill>
                <a:latin typeface="Montserrat"/>
              </a:rPr>
              <a:t>S = 13,4191</a:t>
            </a:r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47959" y="3128740"/>
            <a:ext cx="2945464" cy="2797928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281,22 млн ₽ · 1,85 км · 16 камер · 3 врезки.</a:t>
            </a:r>
            <a:endParaRPr lang="ru-RU">
              <a:solidFill>
                <a:schemeClr val="tx1"/>
              </a:solidFill>
            </a:endParaRP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Порядок «дальние первыми» — другой ствол.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6" y="335426"/>
            <a:ext cx="11331221" cy="376138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310F53"/>
                </a:solidFill>
                <a:latin typeface="Montserrat"/>
              </a:rPr>
              <a:t>ВАРИАНТЫ И РАНЖИРОВАНИЕ</a:t>
            </a:r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780565" y="1772415"/>
            <a:ext cx="1311031" cy="601141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FF0053"/>
                </a:solidFill>
                <a:latin typeface="Montserrat"/>
              </a:rPr>
              <a:t>В1</a:t>
            </a:r>
            <a:endParaRPr lang="ru-RU" sz="4400" b="1" dirty="0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615219" y="1766200"/>
            <a:ext cx="1311031" cy="572942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FF0053"/>
                </a:solidFill>
                <a:latin typeface="Montserrat"/>
              </a:rPr>
              <a:t>В2</a:t>
            </a:r>
            <a:endParaRPr lang="ru-RU" sz="4400" b="1" dirty="0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8547959" y="1766043"/>
            <a:ext cx="1311031" cy="573165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FF0053"/>
                </a:solidFill>
                <a:latin typeface="Montserrat"/>
              </a:rPr>
              <a:t>В3</a:t>
            </a:r>
            <a:endParaRPr lang="ru-RU" sz="4400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339783"/>
            <a:ext cx="2284071" cy="423628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310F53"/>
                </a:solidFill>
                <a:latin typeface="Montserrat"/>
              </a:rPr>
              <a:t>0 ошибок</a:t>
            </a:r>
            <a:endParaRPr lang="ru-RU" dirty="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3128740"/>
            <a:ext cx="2284071" cy="2797928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Независимый валидатор не нашёл нарушений правил приложения ни в одном варианте.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373557"/>
            <a:ext cx="2337416" cy="403756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310F53"/>
                </a:solidFill>
                <a:latin typeface="Montserrat"/>
              </a:rPr>
              <a:t>9 наборов</a:t>
            </a:r>
            <a:endParaRPr lang="ru-RU" dirty="0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3134070"/>
            <a:ext cx="2337416" cy="2797928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Конкурсный и восемь синтетических: дороги, трамвай, газ, кабели, парки, строковые id, район вчетверо на 68 точек, недостижимая точка.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379657"/>
            <a:ext cx="2268537" cy="403913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310F53"/>
                </a:solidFill>
                <a:latin typeface="Montserrat"/>
              </a:rPr>
              <a:t>357 тестов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3136604"/>
            <a:ext cx="2268537" cy="2797928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352 теста расчётного ядра и API плюс 5 тестов Java-приложения. Пример из §7.3 приложения сходится до четвёртого знака.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339783"/>
            <a:ext cx="2263553" cy="423628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310F53"/>
                </a:solidFill>
                <a:latin typeface="Montserrat"/>
              </a:rPr>
              <a:t>Отдельный автор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3128739"/>
            <a:ext cx="2263553" cy="2797928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Валидатор писался по тексту приложения независимо от солвера и пересчитывает каждое число выхода: длины, Ду, отступы, углы, стоимость.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Montserrat"/>
              </a:rPr>
              <a:t>ПОЧЕМУ РЕЗУЛЬТАТУ МОЖНО ВЕРИТЬ</a:t>
            </a:r>
            <a:endParaRPr lang="ru-RU" dirty="0"/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772416"/>
            <a:ext cx="771003" cy="423628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1C1D22"/>
                </a:solidFill>
                <a:latin typeface="Montserrat"/>
              </a:rPr>
              <a:t/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766200"/>
            <a:ext cx="771003" cy="403756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1C1D22"/>
                </a:solidFill>
                <a:latin typeface="Montserrat"/>
              </a:rPr>
              <a:t/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766043"/>
            <a:ext cx="771003" cy="403913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1C1D22"/>
                </a:solidFill>
                <a:latin typeface="Montserrat"/>
              </a:rPr>
              <a:t/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772416"/>
            <a:ext cx="771003" cy="423628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1C1D22"/>
                </a:solidFill>
                <a:latin typeface="Montserrat"/>
              </a:rPr>
              <a:t/>
            </a:r>
            <a:endParaRPr lang="ru-RU" b="1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25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89C5FEE7-8855-4287-AE2D-52539F4D5F3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Браузер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BB2C021-BD44-4085-92C0-42B29CA7DD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814077"/>
            <a:ext cx="2526079" cy="1120685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1C1D22"/>
                </a:solidFill>
                <a:latin typeface="Montserrat"/>
              </a:rPr>
              <a:t>React 19 и MapLibre: загрузка набора, карта, панели, выгрузка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726F0F5-5C67-466D-943E-F4703B2F27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Java-приложение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6D4997F-BA2F-417E-957D-7B6FF608CC4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814077"/>
            <a:ext cx="2526079" cy="1120685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1C1D22"/>
                </a:solidFill>
                <a:latin typeface="Montserrat"/>
              </a:rPr>
              <a:t>Spring Boot 2.6.3, Java 11: приём файла потоком до 3 ГБ, задания, Swagger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04BBFFE-3199-451F-A356-405FEE6461C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PostgreSQL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6B529974-604C-48E2-AD6F-070B19225F48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814077"/>
            <a:ext cx="2526079" cy="1120685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1C1D22"/>
                </a:solidFill>
                <a:latin typeface="Montserrat"/>
              </a:rPr>
              <a:t>Проекты и задания; сами файлы — на общем томе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9C425FA5-5D8B-4070-9FEA-743FFC23DC9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Python-солвер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3E4BE6CF-D653-4C71-B520-8F640E846D62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5181340"/>
            <a:ext cx="2526079" cy="1120685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1C1D22"/>
                </a:solidFill>
                <a:latin typeface="Montserrat"/>
              </a:rPr>
              <a:t>FastAPI: расчёт и валидатор, вызов по путям на общем томе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E93D78-FBF8-4CFA-B0D4-B21070DBC33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docker-compose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931BD573-963A-40B6-8E80-802A897ACB26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5181340"/>
            <a:ext cx="2526079" cy="1120685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1C1D22"/>
                </a:solidFill>
                <a:latin typeface="Montserrat"/>
              </a:rPr>
              <a:t>Три сервиса одной командой — по требованиям ТЗ §3.2</a:t>
            </a:r>
            <a:endParaRPr lang="ru-RU">
              <a:solidFill>
                <a:schemeClr val="tx1"/>
              </a:solidFill>
            </a:endParaRP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FED623D4-5E7E-44FB-A655-80D9166ACECF}"/>
              </a:ext>
            </a:extLst>
          </p:cNvPr>
          <p:cNvCxnSpPr>
            <a:cxnSpLocks/>
          </p:cNvCxnSpPr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3BC568E-FCE4-46A3-933D-4F9F8325A813}"/>
              </a:ext>
            </a:extLst>
          </p:cNvPr>
          <p:cNvCxnSpPr>
            <a:cxnSpLocks/>
          </p:cNvCxnSpPr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043ABED0-AC0F-4D92-AB29-318DAE79D38B}"/>
              </a:ext>
            </a:extLst>
          </p:cNvPr>
          <p:cNvCxnSpPr>
            <a:cxnSpLocks/>
          </p:cNvCxnSpPr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36D684E-425A-4867-B96C-B1550D2326EC}"/>
              </a:ext>
            </a:extLst>
          </p:cNvPr>
          <p:cNvCxnSpPr>
            <a:cxnSpLocks/>
          </p:cNvCxnSpPr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81B30F67-B043-4D47-8D41-EA47E7D98286}"/>
              </a:ext>
            </a:extLst>
          </p:cNvPr>
          <p:cNvCxnSpPr>
            <a:cxnSpLocks/>
          </p:cNvCxnSpPr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B41E618C-6887-4F78-8BEC-4C2ABC30AC44}"/>
              </a:ext>
            </a:extLst>
          </p:cNvPr>
          <p:cNvCxnSpPr>
            <a:cxnSpLocks/>
          </p:cNvCxnSpPr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DE971D4E-B203-4B09-93F8-D53951540777}"/>
              </a:ext>
            </a:extLst>
          </p:cNvPr>
          <p:cNvCxnSpPr>
            <a:cxnSpLocks/>
          </p:cNvCxnSpPr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BF27CC0-A85F-4C49-884A-649E718F232A}"/>
              </a:ext>
            </a:extLst>
          </p:cNvPr>
          <p:cNvCxnSpPr>
            <a:cxnSpLocks/>
          </p:cNvCxnSpPr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8A19CF67-915F-4390-A30E-945C95016756}"/>
              </a:ext>
            </a:extLst>
          </p:cNvPr>
          <p:cNvCxnSpPr>
            <a:cxnSpLocks/>
          </p:cNvCxnSpPr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1</a:t>
            </a:r>
          </a:p>
        </p:txBody>
      </p:sp>
      <p:sp>
        <p:nvSpPr>
          <p:cNvPr id="44" name="Скругленный прямоугольник 43">
            <a:extLst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2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3</a:t>
            </a:r>
          </a:p>
        </p:txBody>
      </p:sp>
      <p:sp>
        <p:nvSpPr>
          <p:cNvPr id="53" name="Скругленный прямоугольник 52">
            <a:extLst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4</a:t>
            </a:r>
          </a:p>
        </p:txBody>
      </p:sp>
      <p:sp>
        <p:nvSpPr>
          <p:cNvPr id="54" name="Скругленный прямоугольник 53">
            <a:extLst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5</a:t>
            </a: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339783"/>
            <a:ext cx="2284071" cy="423628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310F53"/>
                </a:solidFill>
                <a:latin typeface="Montserrat"/>
              </a:rPr>
              <a:t>Поиск по показателю</a:t>
            </a:r>
            <a:endParaRPr lang="ru-RU" dirty="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3128740"/>
            <a:ext cx="2284071" cy="2797928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Оптимизируется прямо S, а не расстояние: цена метра, коэффициенты спецпроходов и запреты заложены в вес ячейки карты.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373557"/>
            <a:ext cx="2337416" cy="403756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310F53"/>
                </a:solidFill>
                <a:latin typeface="Montserrat"/>
              </a:rPr>
              <a:t>Совместное подключение</a:t>
            </a:r>
            <a:endParaRPr lang="ru-RU" dirty="0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3134070"/>
            <a:ext cx="2337416" cy="2797928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Общие участки возникают сами: ветка присоединяется к соседней, если так дешевле по S. Группировать ОКС вручную не нужно.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379657"/>
            <a:ext cx="2268537" cy="403913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310F53"/>
                </a:solidFill>
                <a:latin typeface="Montserrat"/>
              </a:rPr>
              <a:t>Проверяемость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3136604"/>
            <a:ext cx="2268537" cy="2797928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Каждое число выхода пересчитывает независимый валидатор, написанный отдельно по тексту приложения.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339783"/>
            <a:ext cx="2263553" cy="423628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310F53"/>
                </a:solidFill>
                <a:latin typeface="Montserrat"/>
              </a:rPr>
              <a:t>Модель в конфигурации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3128739"/>
            <a:ext cx="2263553" cy="2797928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Таблицы приложения и трактовки спорных мест — YAML. Меняются нормативы — правится конфиг, а не код.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Montserrat"/>
              </a:rPr>
              <a:t>УНИКАЛЬНОСТЬ РЕШЕНИЯ</a:t>
            </a:r>
            <a:endParaRPr lang="ru-RU" dirty="0"/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772416"/>
            <a:ext cx="771003" cy="423628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1C1D22"/>
                </a:solidFill>
                <a:latin typeface="Montserrat"/>
              </a:rPr>
              <a:t/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766200"/>
            <a:ext cx="771003" cy="403756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1C1D22"/>
                </a:solidFill>
                <a:latin typeface="Montserrat"/>
              </a:rPr>
              <a:t/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766043"/>
            <a:ext cx="771003" cy="403913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1C1D22"/>
                </a:solidFill>
                <a:latin typeface="Montserrat"/>
              </a:rPr>
              <a:t/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772416"/>
            <a:ext cx="771003" cy="423628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1C1D22"/>
                </a:solidFill>
                <a:latin typeface="Montserrat"/>
              </a:rPr>
              <a:t/>
            </a:r>
            <a:endParaRPr lang="ru-RU" b="1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64B9-F30D-B51A-EC08-2389E212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310F53"/>
                </a:solidFill>
                <a:latin typeface="Montserrat"/>
              </a:rPr>
              <a:t>ПЛАНЫ ПО РАЗВИТИЮ</a:t>
            </a:r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4902200" cy="712587"/>
          </a:xfrm>
        </p:spPr>
        <p:txBody>
          <a:bodyPr/>
          <a:lstStyle/>
          <a:p>
            <a:endParaRPr lang="ru-RU">
              <a:solidFill>
                <a:schemeClr val="tx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4902200" cy="712587"/>
          </a:xfrm>
        </p:spPr>
        <p:txBody>
          <a:bodyPr/>
          <a:lstStyle/>
          <a:p>
            <a:endParaRPr lang="ru-RU"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4902200" cy="712587"/>
          </a:xfrm>
        </p:spPr>
        <p:txBody>
          <a:bodyPr/>
          <a:lstStyle/>
          <a:p>
            <a:endParaRPr lang="ru-RU">
              <a:solidFill>
                <a:schemeClr val="tx1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4902200" cy="712587"/>
          </a:xfrm>
        </p:spPr>
        <p:txBody>
          <a:bodyPr/>
          <a:lstStyle/>
          <a:p>
            <a:endParaRPr lang="ru-RU">
              <a:solidFill>
                <a:schemeClr val="tx1"/>
              </a:solidFill>
            </a:endParaRP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4902200" cy="712587"/>
          </a:xfrm>
        </p:spPr>
        <p:txBody>
          <a:bodyPr/>
          <a:lstStyle/>
          <a:p>
            <a:endParaRPr lang="ru-RU">
              <a:solidFill>
                <a:schemeClr val="tx1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1400" b="1">
                <a:solidFill>
                  <a:srgbClr val="310F53"/>
                </a:solidFill>
                <a:latin typeface="Montserrat"/>
              </a:rPr>
              <a:t>Реконструкция существующей сети — </a:t>
            </a:r>
            <a:r>
              <a:rPr sz="1300">
                <a:solidFill>
                  <a:srgbClr val="1C1D22"/>
                </a:solidFill>
                <a:latin typeface="Montserrat"/>
              </a:rPr>
              <a:t>сейчас считается добавочный расход к источнику; дальше — подбор Ду и стоимость перекладки</a:t>
            </a:r>
          </a:p>
          <a:p>
            <a:pPr>
              <a:spcAft>
                <a:spcPts val="2200"/>
              </a:spcAft>
            </a:pPr>
            <a:r>
              <a:rPr sz="1400" b="1">
                <a:solidFill>
                  <a:srgbClr val="310F53"/>
                </a:solidFill>
                <a:latin typeface="Montserrat"/>
              </a:rPr>
              <a:t>Режим с учётом глубины — </a:t>
            </a:r>
            <a:r>
              <a:rPr sz="1300">
                <a:solidFill>
                  <a:srgbClr val="1C1D22"/>
                </a:solidFill>
                <a:latin typeface="Montserrat"/>
              </a:rPr>
              <a:t>продольный профиль уже строится на плоской земле; нужен реальный рельеф и колодцы</a:t>
            </a:r>
          </a:p>
          <a:p>
            <a:pPr>
              <a:spcAft>
                <a:spcPts val="2200"/>
              </a:spcAft>
            </a:pPr>
            <a:r>
              <a:rPr sz="1400" b="1">
                <a:solidFill>
                  <a:srgbClr val="310F53"/>
                </a:solidFill>
                <a:latin typeface="Montserrat"/>
              </a:rPr>
              <a:t>Гидравлика — </a:t>
            </a:r>
            <a:r>
              <a:rPr sz="1300">
                <a:solidFill>
                  <a:srgbClr val="1C1D22"/>
                </a:solidFill>
                <a:latin typeface="Montserrat"/>
              </a:rPr>
              <a:t>проверка располагаемого напора на границе балансовой принадлежности</a:t>
            </a:r>
          </a:p>
          <a:p>
            <a:pPr>
              <a:spcAft>
                <a:spcPts val="2200"/>
              </a:spcAft>
            </a:pPr>
            <a:r>
              <a:rPr sz="1400" b="1">
                <a:solidFill>
                  <a:srgbClr val="310F53"/>
                </a:solidFill>
                <a:latin typeface="Montserrat"/>
              </a:rPr>
              <a:t>Интеграция — </a:t>
            </a:r>
            <a:r>
              <a:rPr sz="1300">
                <a:solidFill>
                  <a:srgbClr val="1C1D22"/>
                </a:solidFill>
                <a:latin typeface="Montserrat"/>
              </a:rPr>
              <a:t>приём исходных данных из городских систем и выгрузка в формат проектной документации</a:t>
            </a:r>
          </a:p>
          <a:p>
            <a:pPr>
              <a:spcAft>
                <a:spcPts val="2200"/>
              </a:spcAft>
            </a:pPr>
            <a:r>
              <a:rPr sz="1400" b="1">
                <a:solidFill>
                  <a:srgbClr val="310F53"/>
                </a:solidFill>
                <a:latin typeface="Montserrat"/>
              </a:rPr>
              <a:t>Производительность — </a:t>
            </a:r>
            <a:r>
              <a:rPr sz="1300">
                <a:solidFill>
                  <a:srgbClr val="1C1D22"/>
                </a:solidFill>
                <a:latin typeface="Montserrat"/>
              </a:rPr>
              <a:t>параллельный расчёт вариантов: район на 68 точек — за минуту вместо трёх</a:t>
            </a:r>
          </a:p>
        </p:txBody>
      </p:sp>
    </p:spTree>
    <p:extLst>
      <p:ext uri="{BB962C8B-B14F-4D97-AF65-F5344CB8AC3E}">
        <p14:creationId xmlns:p14="http://schemas.microsoft.com/office/powerpoint/2010/main" val="3679793639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Microsoft Office User</cp:lastModifiedBy>
  <cp:revision>95</cp:revision>
  <dcterms:created xsi:type="dcterms:W3CDTF">2023-05-15T07:36:23Z</dcterms:created>
  <dcterms:modified xsi:type="dcterms:W3CDTF">2026-09-14T11:14:59Z</dcterms:modified>
</cp:coreProperties>
</file>