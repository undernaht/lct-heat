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2" r:id="rId21"/>
    <p:sldId id="268" r:id="rId25"/>
    <p:sldId id="269" r:id="rId27"/>
    <p:sldId id="261" r:id="rId20"/>
    <p:sldId id="374" r:id="rId18"/>
    <p:sldId id="371" r:id="rId17"/>
    <p:sldId id="267" r:id="rId26"/>
    <p:sldId id="376" r:id="rId45"/>
    <p:sldId id="370" r:id="rId1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6" Type="http://schemas.openxmlformats.org/officeDocument/2006/relationships/slide" Target="slides/slide14.xml"/><Relationship Id="rId17" Type="http://schemas.openxmlformats.org/officeDocument/2006/relationships/slide" Target="slides/slide11.xml"/><Relationship Id="rId18" Type="http://schemas.openxmlformats.org/officeDocument/2006/relationships/slide" Target="slides/slide10.xml"/><Relationship Id="rId20" Type="http://schemas.openxmlformats.org/officeDocument/2006/relationships/slide" Target="slides/slide9.xml"/><Relationship Id="rId21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12.xml"/><Relationship Id="rId27" Type="http://schemas.openxmlformats.org/officeDocument/2006/relationships/slide" Target="slides/slide8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wrap="square"/>
          <a:lstStyle/>
          <a:p>
            <a:pPr marL="268288" indent="0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Сервис моделирования трасс подключения к тепловым сетям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 wrap="square"/>
          <a:lstStyle/>
          <a:p>
            <a:pPr indent="268288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Команда Heat · Томск · кейс Департамента информационных технологий города Москвы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di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94" y="329801"/>
            <a:ext cx="3510681" cy="108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sz="1150" b="0">
                <a:solidFill>
                  <a:srgbClr val="1C1D22"/>
                </a:solidFill>
                <a:latin typeface="Montserrat"/>
              </a:rPr>
              <a:t>Трасса ищется не по расстоянию, а прямо по целевому показателю S. Общие участки для соседних ОКС возникают сами. Результат пересчитывает независимый валидатор, написанный отдельно по тексту приложения.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Капитан: Бахмат Владислав Романович, ведущий инженер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Количество участников: 2 человека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Состав: разработка — ведущий инженер ООО «Нова-Хелс» и аспирант ТГУ;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дизайн и подача — преподаватель ТГУ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Город и регион: Томск, Томская область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sz="1150" b="0">
                <a:solidFill>
                  <a:srgbClr val="1C1D22"/>
                </a:solidFill>
                <a:latin typeface="Montserrat"/>
              </a:rPr>
              <a:t>За один запуск сервис строит варианты подключения всех перспективных ОКС к тепловым сетям: выбирает точки врезки, прокладывает трассы в обход ограничений, считает расходы, подбирает условные диаметры и стоимость — по расчётной модели технического приложения. Ручная правка геометрии не требуется.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15354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325830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900" b="0">
                <a:solidFill>
                  <a:srgbClr val="1C1D22"/>
                </a:solidFill>
                <a:latin typeface="Montserrat"/>
              </a:rPr>
              <a:t>Дизайнер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Телеграм: @evatmn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+7 923 426-65-09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Преподаватель Томского государственного университета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32582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310F53"/>
                </a:solidFill>
                <a:latin typeface="Montserrat"/>
              </a:rPr>
              <a:t>Томина Эвелина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848228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КОМАНДА HEAT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20512" y="4250028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900" b="0">
                <a:solidFill>
                  <a:srgbClr val="1C1D22"/>
                </a:solidFill>
                <a:latin typeface="Montserrat"/>
              </a:rPr>
              <a:t>Капитан, fullstack-разработчик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Телеграм: @vladik_bread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+7 996 938-83-96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Ведущий инженер ООО «Нова-Хелс», аспирант Томского государственного университета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02051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310F53"/>
                </a:solidFill>
                <a:latin typeface="Montserrat"/>
              </a:rPr>
              <a:t>Бахмат Владислав Романович</a:t>
            </a:r>
          </a:p>
        </p:txBody>
      </p:sp>
      <p:pic>
        <p:nvPicPr>
          <p:cNvPr id="59" name="Picture 58" descr="vladisla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549" y="1816054"/>
            <a:ext cx="1722566" cy="1552901"/>
          </a:xfrm>
          <a:prstGeom prst="rect">
            <a:avLst/>
          </a:prstGeom>
        </p:spPr>
      </p:pic>
      <p:pic>
        <p:nvPicPr>
          <p:cNvPr id="60" name="Picture 59" descr="evelin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619" y="1826554"/>
            <a:ext cx="1722566" cy="154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О КОМАНДЕ И О ЗАДАЧЕ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C1D22"/>
                </a:solidFill>
                <a:latin typeface="Montserrat"/>
              </a:rPr>
              <a:t>Команда из двух человек из Томска. Расчётное ядро, серверную часть и интерфейс делал ведущий инженер и аспирант ТГУ, дизайн и подачу решения — преподаватель ТГУ. Зоны ответственности не пересекались, поэтому работали параллельно.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Исходные документы расходятся: ТЗ описывает реконструкцию существующей сети, а техническое приложение и разъяснение № 14 исключают её из расчётной модели. Все такие места мы выписали отдельной спецификацией с нашими трактовками и вынесли в конфигурацию — переключаются строкой.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  <a:buNone/>
            </a:pPr>
            <a:r>
              <a:rPr sz="1050" b="0">
                <a:solidFill>
                  <a:srgbClr val="1C1D22"/>
                </a:solidFill>
                <a:latin typeface="Montserrat"/>
              </a:rPr>
              <a:t>Вторая сложность — геометрия: правила заданы в метрах и градусах, а поиск трассы идёт по растру. Углы, отступы и спецпроходы пришлось доводить по вектору и перестраивать трассу там, где растр давал нарушение. Чтобы не проверять себя собственным же кодом, мы написали независимый валидатор по тексту приложения и восемь синтетических наборов — они и ловили ошибки.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sz="1150" b="0">
                <a:solidFill>
                  <a:srgbClr val="1C1D22"/>
                </a:solidFill>
                <a:latin typeface="Montserrat"/>
              </a:rPr>
              <a:t>Задача редка тем, что результат в ней измеряется, а не обсуждается: у кейса есть формальная расчётная модель и один числовой показатель. Это позволяло проверять себя объективно на каждом шаге.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Поле стоимости в единицах S (растр 1 м) → волна Дейкстры от каждой точки → жадное дерево с локальным поиском → расходы и Ду по таблице 1 → ограничения таблицы 2 → выгрузка GeoJSON по §7 приложения.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Ядро — Python (Shapely, rasterio, scikit-image). Приложение по ТЗ §3.2 — Java 11 и Spring Boot 2.6.3 с PostgreSQL и Swagger; стенд поднимается docker-compose.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br>
              <a:rPr lang="ru-RU" sz="1400" dirty="0">
                <a:solidFill>
                  <a:schemeClr val="tx1"/>
                </a:solidFill>
              </a:rPr>
            </a:br>
            <a:r>
              <a:rPr sz="1200" b="0">
                <a:solidFill>
                  <a:srgbClr val="1C1D22"/>
                </a:solidFill>
                <a:latin typeface="Montserrat"/>
              </a:rPr>
              <a:t>Инженер получает за полминуты то, на что уходит рабочий день: три сопоставимых варианта, где каждая цифра прослеживается до правила приложения.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Расчётная модель вынесена в конфигурацию: меняются нормативы — правится YAML, а не код.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Дальше — реконструкция существующей сети, учёт рельефа и интеграция с городскими системами.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Подключение нового объекта к теплосети — это выбор точки врезки и маршрута в плотной городской застройке.</a:t>
            </a:r>
            <a:endParaRPr lang="ru-RU" sz="3600" b="1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Инженер учитывает здания, дороги, водные объекты, железную дорогу и чужие коммуникации: одно приходится обходить, другое можно пересечь по правилам, третье требует специального прохода.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Затем на каждом участке считается расход, подбирается условный диаметр и стоимость.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Объектов в наборе 17, и подключать их выгоднее совместно: общий участок оплачивается один раз.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Вход — один GeoJSON: сеть, камеры, источник, точки ОКС, ограничения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17 точек подключения, суммарный расход 488,72 т/ч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29 участков сети (1,46 км), 9 камер, 88 ограничений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Выход — GeoJSON по §7: участки, камеры, техузлы, сводка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10F53"/>
                </a:solidFill>
                <a:latin typeface="Montserrat"/>
              </a:rPr>
              <a:t>Показатель S = 0,7 · C / 25 млн ₽ + 0,3 · L / 100 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ЗАДАЧА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Поле стоимости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Район режется на растр с шагом 1 м. Вес ячейки — вклад метра трубы в показатель S: цена прокладки, коэффициент спецпрохода, запрет — бесконечность. Задача становится поиском самого дешёвого пути, а не короткого.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Дерево подключения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От каждой точки идёт волна Дейкстры и выбирает самое дешёвое присоединение: существующий участок, камера в радиусе 10 м или уже построенная ветка. Общие участки возникают сами.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Правила приложения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Расходы суммируются вверх по дереву, Ду — по таблице 1 с предельной длиной, отступы и спецпроходы — по таблице 2, повороты ≤ 90°, пересечения ≥ 45°. Нарушения ищутся по вектору и чинятся точечным запретом.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КАК СЧИТАЕМ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2" name="Рисунок 1" descr="ui-full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Montserrat"/>
              </a:rPr>
              <a:t>Карта: исходные данные и построенная сеть с расходами и Ду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Montserrat"/>
              </a:rPr>
              <a:t>Панели: участки, камеры, предельная длина, спецпроходы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Montserrat"/>
              </a:rPr>
              <a:t>Выгрузка GeoJSON и протокол независимого валидатора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ИНТЕРФЕЙС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Конкурсный набор «ЗИЛ»: 17 из 17 точек подключены за один запуск, три варианта — около 30 секунд на одном ядре.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Лучший вариант: S = 12,8605 — 263,65 млн ₽, 1,83 км новой сети, 14 камер, 3 точки врезки. Нарушений правил приложения нет ни в одном варианте.</a:t>
            </a: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РЕЗУЛЬТАТ</a:t>
            </a:r>
            <a:endParaRPr lang="ru-RU" dirty="0"/>
          </a:p>
        </p:txBody>
      </p:sp>
      <p:pic>
        <p:nvPicPr>
          <p:cNvPr id="11" name="Picture 10" descr="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448" y="3223948"/>
            <a:ext cx="4163394" cy="2976827"/>
          </a:xfrm>
          <a:prstGeom prst="rect">
            <a:avLst/>
          </a:prstGeom>
        </p:spPr>
      </p:pic>
      <p:pic>
        <p:nvPicPr>
          <p:cNvPr id="12" name="Picture 11" descr="panel-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45" y="1016001"/>
            <a:ext cx="3726579" cy="3078479"/>
          </a:xfrm>
          <a:prstGeom prst="rect">
            <a:avLst/>
          </a:prstGeom>
        </p:spPr>
      </p:pic>
      <p:pic>
        <p:nvPicPr>
          <p:cNvPr id="13" name="Picture 12" descr="panel-valid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428" y="4389108"/>
            <a:ext cx="2035215" cy="181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10F53"/>
                </a:solidFill>
                <a:latin typeface="Montserrat"/>
              </a:rPr>
              <a:t>S = 12,8605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263,65 млн ₽ · 1,83 км · 14 камер · 3 врезки.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Порядок обработки «ближние к сети первыми».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10F53"/>
                </a:solidFill>
                <a:latin typeface="Montserrat"/>
              </a:rPr>
              <a:t>S = 12,8963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265,15 млн ₽ · 1,82 км · 14 камер · 3 врезки.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Порядок «наибольший расход первым» — другой состав общих участков.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10F53"/>
                </a:solidFill>
                <a:latin typeface="Montserrat"/>
              </a:rPr>
              <a:t>S = 13,4191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281,22 млн ₽ · 1,85 км · 16 камер · 3 врезки.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Порядок «дальние первыми» — другой ствол.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ВАРИАНТЫ И РАНЖИРОВАНИЕ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В1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В2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В3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10F53"/>
                </a:solidFill>
                <a:latin typeface="Montserrat"/>
              </a:rPr>
              <a:t>0 ошибок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Независимый валидатор не нашёл нарушений правил приложения ни в одном варианте.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10F53"/>
                </a:solidFill>
                <a:latin typeface="Montserrat"/>
              </a:rPr>
              <a:t>9 наборов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Конкурсный и восемь синтетических: дороги, трамвай, газ, кабели, парки, строковые id, район вчетверо на 68 точек, недостижимая точка.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10F53"/>
                </a:solidFill>
                <a:latin typeface="Montserrat"/>
              </a:rPr>
              <a:t>357 тестов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352 теста расчётного ядра и API плюс 5 тестов Java-приложения. Пример из §7.3 приложения сходится до четвёртого знака.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10F53"/>
                </a:solidFill>
                <a:latin typeface="Montserrat"/>
              </a:rPr>
              <a:t>Отдельный автор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Валидатор писался по тексту приложения независимо от солвера и пересчитывает каждое число выхода: длины, Ду, отступы, углы, стоимость.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ПОЧЕМУ РЕЗУЛЬТАТУ МОЖНО ВЕРИТЬ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Браузер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React 19 и MapLibre: загрузка набора, карта, панели, выгрузка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Java-приложение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Spring Boot 2.6.3, Java 11: приём файла потоком до 3 ГБ, задания, Swagger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PostgreSQL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Проекты и задания; сами файлы — на общем томе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Python-солвер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FastAPI: расчёт и валидатор, вызов по путям на общем томе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docker-compose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>Три сервиса одной командой — по требованиям ТЗ §3.2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10F53"/>
                </a:solidFill>
                <a:latin typeface="Montserrat"/>
              </a:rPr>
              <a:t>Поиск по показателю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Оптимизируется прямо S, а не расстояние: цена метра, коэффициенты спецпроходов и запреты заложены в вес ячейки карты.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10F53"/>
                </a:solidFill>
                <a:latin typeface="Montserrat"/>
              </a:rPr>
              <a:t>Совместное подключение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Общие участки возникают сами: ветка присоединяется к соседней, если так дешевле по S. Группировать ОКС вручную не нужно.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10F53"/>
                </a:solidFill>
                <a:latin typeface="Montserrat"/>
              </a:rPr>
              <a:t>Проверяемость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Каждое число выхода пересчитывает независимый валидатор, написанный отдельно по тексту приложения.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310F53"/>
                </a:solidFill>
                <a:latin typeface="Montserrat"/>
              </a:rPr>
              <a:t>Модель в конфигурации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C1D22"/>
                </a:solidFill>
                <a:latin typeface="Montserrat"/>
              </a:rPr>
              <a:t>Таблицы приложения и трактовки спорных мест — YAML. Меняются нормативы — правится конфиг, а не код.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УНИКАЛЬНОСТЬ РЕШЕНИЯ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1C1D22"/>
                </a:solidFill>
                <a:latin typeface="Montserrat"/>
              </a:rPr>
              <a:t/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ПЛАНЫ ПО РАЗВИТИЮ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Реконструкция существующей сети — </a:t>
            </a:r>
            <a:r>
              <a:rPr sz="1300">
                <a:solidFill>
                  <a:srgbClr val="1C1D22"/>
                </a:solidFill>
                <a:latin typeface="Montserrat"/>
              </a:rPr>
              <a:t>сейчас считается добавочный расход к источнику; дальше — подбор Ду и стоимость перекладки</a:t>
            </a:r>
          </a:p>
          <a:p>
            <a:pPr>
              <a:spcAft>
                <a:spcPts val="22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Режим с учётом глубины — </a:t>
            </a:r>
            <a:r>
              <a:rPr sz="1300">
                <a:solidFill>
                  <a:srgbClr val="1C1D22"/>
                </a:solidFill>
                <a:latin typeface="Montserrat"/>
              </a:rPr>
              <a:t>продольный профиль уже строится на плоской земле; нужен реальный рельеф и колодцы</a:t>
            </a:r>
          </a:p>
          <a:p>
            <a:pPr>
              <a:spcAft>
                <a:spcPts val="22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Гидравлика — </a:t>
            </a:r>
            <a:r>
              <a:rPr sz="1300">
                <a:solidFill>
                  <a:srgbClr val="1C1D22"/>
                </a:solidFill>
                <a:latin typeface="Montserrat"/>
              </a:rPr>
              <a:t>проверка располагаемого напора на границе балансовой принадлежности</a:t>
            </a:r>
          </a:p>
          <a:p>
            <a:pPr>
              <a:spcAft>
                <a:spcPts val="22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Интеграция — </a:t>
            </a:r>
            <a:r>
              <a:rPr sz="1300">
                <a:solidFill>
                  <a:srgbClr val="1C1D22"/>
                </a:solidFill>
                <a:latin typeface="Montserrat"/>
              </a:rPr>
              <a:t>приём исходных данных из городских систем и выгрузка в формат проектной документации</a:t>
            </a:r>
          </a:p>
          <a:p>
            <a:pPr>
              <a:spcAft>
                <a:spcPts val="2200"/>
              </a:spcAft>
            </a:pPr>
            <a:r>
              <a:rPr sz="1400" b="1">
                <a:solidFill>
                  <a:srgbClr val="310F53"/>
                </a:solidFill>
                <a:latin typeface="Montserrat"/>
              </a:rPr>
              <a:t>Производительность — </a:t>
            </a:r>
            <a:r>
              <a:rPr sz="1300">
                <a:solidFill>
                  <a:srgbClr val="1C1D22"/>
                </a:solidFill>
                <a:latin typeface="Montserrat"/>
              </a:rPr>
              <a:t>параллельный расчёт вариантов: район на 68 точек — за минуту вместо трёх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